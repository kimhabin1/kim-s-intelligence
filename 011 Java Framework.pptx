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8"/>
  </p:notesMasterIdLst>
  <p:sldIdLst>
    <p:sldId id="323" r:id="rId2"/>
    <p:sldId id="324" r:id="rId3"/>
    <p:sldId id="326" r:id="rId4"/>
    <p:sldId id="334" r:id="rId5"/>
    <p:sldId id="329" r:id="rId6"/>
    <p:sldId id="33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B6298"/>
    <a:srgbClr val="EE9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6293" autoAdjust="0"/>
  </p:normalViewPr>
  <p:slideViewPr>
    <p:cSldViewPr snapToGrid="0">
      <p:cViewPr varScale="1">
        <p:scale>
          <a:sx n="91" d="100"/>
          <a:sy n="91" d="100"/>
        </p:scale>
        <p:origin x="451" y="67"/>
      </p:cViewPr>
      <p:guideLst/>
    </p:cSldViewPr>
  </p:slideViewPr>
  <p:outlineViewPr>
    <p:cViewPr>
      <p:scale>
        <a:sx n="33" d="100"/>
        <a:sy n="33" d="100"/>
      </p:scale>
      <p:origin x="0" y="-1354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01320-4944-4938-A9CF-048AA6FA46B3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862E3-7D78-41F0-B3E5-390639552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9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880FDAA-2D53-4284-B06D-4F30EB650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70" y="501650"/>
            <a:ext cx="9183050" cy="58547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7D7AC6-0BBF-4B56-A5AB-B3A593BD3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6204"/>
            <a:ext cx="9144000" cy="1726164"/>
          </a:xfrm>
          <a:solidFill>
            <a:srgbClr val="1F4E79">
              <a:alpha val="69804"/>
            </a:srgbClr>
          </a:solidFill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78CC0-6F0E-4D4E-B81D-BCC2CBFE0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2760" y="4324740"/>
            <a:ext cx="5206483" cy="1124338"/>
          </a:xfrm>
          <a:solidFill>
            <a:srgbClr val="1F4E79">
              <a:alpha val="69804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1C66FF-756D-41A6-922C-8C126896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6C770-DC08-4D31-A444-339349CD98E7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12E96-9AA7-4DB1-A0AC-111C99DB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6762-F290-4BC1-8F29-529B62E0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9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7E7380-C401-4E71-A81C-403298BD30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A9F720-CAA5-4D44-943C-6F1F3F61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463D4-4D4B-474D-B65B-32A3CE9C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2pPr>
            <a:lvl3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3pPr>
            <a:lvl4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4pPr>
            <a:lvl5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F7CE1-11BA-46BF-B96C-3CCC2915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811D-5920-4015-B44B-5F137639775D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2C9DC-6D0E-469F-9766-7C6B84F9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4C500-01F1-4C40-B789-3CF5BE68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F7E803-1942-405B-9F1A-8D89B30650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742903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3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소스코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7005973-1C5F-4EEB-9EA8-BD78397C2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A9F720-CAA5-4D44-943C-6F1F3F61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463D4-4D4B-474D-B65B-32A3CE9C4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812"/>
            <a:ext cx="10515600" cy="5346383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F7CE1-11BA-46BF-B96C-3CCC2915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9F436-04E6-43A8-926F-14B668CD1558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2C9DC-6D0E-469F-9766-7C6B84F9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4C500-01F1-4C40-B789-3CF5BE68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F7E803-1942-405B-9F1A-8D89B30650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742903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44F6488-B767-4268-B8F7-C11BBF8AD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C619DC-4942-490B-9196-7DC99267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B4453D-C511-4698-AC56-AE0B7305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0281-7DBE-44F3-88B3-876331D41505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61FA41-2100-4812-898F-34FFAD8D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0CB461-B67F-43CA-870E-0599DC78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8AE1D5-5905-4D03-ADFA-BF1B5531EE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742903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2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C6F66A-D0F8-425B-AD68-88895F1F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D9E44-B790-43C5-9424-06B767B24B77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8F1F41-AA31-4586-95C2-12A42A00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12264-D97A-4DA6-B4A5-14EFFEF4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11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FD22BA4-7042-4FBF-A14D-0E1275144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F21F0C-637A-4855-B63F-E88605A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DB513-DADB-481C-9050-267E564F4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00100"/>
            <a:ext cx="5181600" cy="5376863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C3637F-1FEB-4A31-9A10-2E67F1A0B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00100"/>
            <a:ext cx="5181600" cy="5376863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A7387-623D-40A6-A948-6739DF15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8F8B-0D27-42BC-8DB5-33E7B479C62D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50D62E-F0A5-4DAB-B3EF-0B59F6D7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2AA97-BD43-44F6-90A0-40C3538E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37C50E-7695-422E-900A-E03CA9D66E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742903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0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855337-220E-43B5-BE59-7F78AB39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4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FB0879-5650-4E9B-A49F-FE7D0A53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30580"/>
            <a:ext cx="10515600" cy="534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D9A40-DF20-49BE-95A5-D099CFBFB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9EBEA-79D4-4E4B-B3AF-47DEBDEF1A75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3CA6D5-18A4-402E-887A-ED33113B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CAB645-5E42-497E-8E02-CEB6C6F02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4466" y="213677"/>
            <a:ext cx="518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23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4" r:id="rId3"/>
    <p:sldLayoutId id="2147483693" r:id="rId4"/>
    <p:sldLayoutId id="2147483692" r:id="rId5"/>
    <p:sldLayoutId id="2147483689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framework" TargetMode="External"/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ring.io/projects/spring-security" TargetMode="External"/><Relationship Id="rId5" Type="http://schemas.openxmlformats.org/officeDocument/2006/relationships/hyperlink" Target="https://spring.io/projects/spring-data-jpa" TargetMode="External"/><Relationship Id="rId4" Type="http://schemas.openxmlformats.org/officeDocument/2006/relationships/hyperlink" Target="https://spring.io/projects/spring-data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25DBF00-51DA-4F34-A955-587DD2BE88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4FDE11B-19B0-47D4-A7A6-ACBB265C2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egyou@induk.ac.kr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260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E32E7-06AD-4D77-B553-ABE72FE4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AE211-75DE-4E29-B6D4-9DCBED4F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교과목 명 </a:t>
            </a:r>
            <a:r>
              <a:rPr lang="en-US" altLang="ko-KR" dirty="0"/>
              <a:t>: Java</a:t>
            </a:r>
            <a:r>
              <a:rPr lang="ko-KR" altLang="en-US" dirty="0"/>
              <a:t>프레임워크</a:t>
            </a:r>
            <a:endParaRPr lang="en-US" altLang="ko-KR" dirty="0"/>
          </a:p>
          <a:p>
            <a:r>
              <a:rPr lang="ko-KR" altLang="en-US" dirty="0"/>
              <a:t>교과목 개요</a:t>
            </a:r>
            <a:endParaRPr lang="en-US" altLang="ko-KR" dirty="0"/>
          </a:p>
          <a:p>
            <a:pPr lvl="1"/>
            <a:r>
              <a:rPr lang="en-US" altLang="ko-KR" dirty="0"/>
              <a:t>Java </a:t>
            </a:r>
            <a:r>
              <a:rPr lang="ko-KR" altLang="en-US" dirty="0"/>
              <a:t>기반 오픈소스 프레임워크에 대하여 학습하고</a:t>
            </a:r>
            <a:r>
              <a:rPr lang="en-US" altLang="ko-KR" dirty="0"/>
              <a:t>, </a:t>
            </a:r>
            <a:r>
              <a:rPr lang="ko-KR" altLang="en-US" dirty="0"/>
              <a:t>실습한다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교육 목표</a:t>
            </a:r>
            <a:endParaRPr lang="en-US" altLang="ko-KR" dirty="0"/>
          </a:p>
          <a:p>
            <a:pPr lvl="1"/>
            <a:r>
              <a:rPr lang="ko-KR" altLang="en-US" dirty="0"/>
              <a:t>프레임워크를 활용한 프로덕션급 기업용 웹 애플리케이션 개발 능력을 배양한다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교육내용</a:t>
            </a:r>
            <a:endParaRPr lang="en-US" altLang="ko-KR" dirty="0"/>
          </a:p>
          <a:p>
            <a:pPr lvl="1"/>
            <a:r>
              <a:rPr lang="ko-KR" altLang="en-US" dirty="0"/>
              <a:t>프레임워크 기반 개발 환경 구축 및 공통 모듈 구현하기</a:t>
            </a:r>
          </a:p>
          <a:p>
            <a:pPr lvl="1"/>
            <a:r>
              <a:rPr lang="ko-KR" altLang="en-US" dirty="0"/>
              <a:t>프레임워크 기반 서버 프로그램 및 배치 프로그램 구현하기 </a:t>
            </a:r>
          </a:p>
          <a:p>
            <a:pPr lvl="1"/>
            <a:r>
              <a:rPr lang="en-US" altLang="ko-KR" dirty="0"/>
              <a:t>Java </a:t>
            </a:r>
            <a:r>
              <a:rPr lang="ko-KR" altLang="en-US" dirty="0"/>
              <a:t>프레임워크를 활용한 실무 프로젝트 개발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655450-1B88-4275-A8F6-2974DEF8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41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7F672-FF08-4154-8066-1EADC77C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6B139-F5A2-43BC-B1EF-5B6B5421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평가 계획</a:t>
            </a:r>
            <a:endParaRPr lang="en-US" altLang="ko-KR" dirty="0"/>
          </a:p>
          <a:p>
            <a:pPr lvl="1"/>
            <a:r>
              <a:rPr lang="ko-KR" altLang="en-US" dirty="0"/>
              <a:t>출석 </a:t>
            </a:r>
            <a:r>
              <a:rPr lang="en-US" altLang="ko-KR" dirty="0"/>
              <a:t>20% : </a:t>
            </a:r>
            <a:r>
              <a:rPr lang="ko-KR" altLang="en-US" dirty="0"/>
              <a:t>대학 지침에 따름</a:t>
            </a:r>
            <a:endParaRPr lang="en-US" altLang="ko-KR" dirty="0"/>
          </a:p>
          <a:p>
            <a:pPr lvl="1"/>
            <a:r>
              <a:rPr lang="ko-KR" altLang="en-US" dirty="0"/>
              <a:t>중간평가 </a:t>
            </a:r>
            <a:r>
              <a:rPr lang="en-US" altLang="ko-KR" dirty="0"/>
              <a:t>40% : 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기말평가 </a:t>
            </a:r>
            <a:r>
              <a:rPr lang="en-US" altLang="ko-KR" dirty="0"/>
              <a:t>40% : </a:t>
            </a:r>
            <a:r>
              <a:rPr lang="ko-KR" altLang="en-US" dirty="0"/>
              <a:t>프로젝트 및 발표</a:t>
            </a:r>
            <a:endParaRPr lang="en-US" altLang="ko-KR" dirty="0"/>
          </a:p>
          <a:p>
            <a:pPr lvl="2"/>
            <a:r>
              <a:rPr lang="ko-KR" altLang="en-US" dirty="0"/>
              <a:t>중간 평가 이전의 과제는 중간 평가에 반영</a:t>
            </a:r>
            <a:endParaRPr lang="en-US" altLang="ko-KR" dirty="0"/>
          </a:p>
          <a:p>
            <a:pPr lvl="2"/>
            <a:r>
              <a:rPr lang="ko-KR" altLang="en-US" dirty="0"/>
              <a:t>중간 이후 </a:t>
            </a:r>
            <a:r>
              <a:rPr lang="en-US" altLang="ko-KR" dirty="0"/>
              <a:t>~ </a:t>
            </a:r>
            <a:r>
              <a:rPr lang="ko-KR" altLang="en-US" dirty="0"/>
              <a:t>기말 사이의 과제는 기말 평가에 반영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0944E-807F-44D5-A510-846B56CF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32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45E40-AECC-409B-B3AF-B418761F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강의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AA337-F598-4119-ACE1-08B96572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</a:t>
            </a:r>
            <a:endParaRPr lang="en-US" altLang="ko-KR" dirty="0"/>
          </a:p>
          <a:p>
            <a:pPr lvl="1"/>
            <a:r>
              <a:rPr lang="ko-KR" altLang="en-US" dirty="0"/>
              <a:t>강의 계획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Spring Boot </a:t>
            </a:r>
            <a:r>
              <a:rPr lang="ko-KR" altLang="en-US" dirty="0"/>
              <a:t>소개</a:t>
            </a:r>
            <a:r>
              <a:rPr lang="en-US" altLang="ko-KR" dirty="0"/>
              <a:t>, Spring Framework</a:t>
            </a:r>
            <a:r>
              <a:rPr lang="ko-KR" altLang="en-US" dirty="0"/>
              <a:t> 소개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/>
              <a:t>개발환경 구축 및 </a:t>
            </a:r>
            <a:r>
              <a:rPr lang="en-US" altLang="ko-KR" dirty="0"/>
              <a:t>Spring Boot </a:t>
            </a:r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dirty="0"/>
              <a:t>Maven, Gradle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en-US" altLang="ko-KR" dirty="0"/>
              <a:t>DBMS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999819-1BDB-436C-9C02-EEC18E20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61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4752D-C576-426F-B244-54FB2915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Projects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6BCA6-B596-4899-A945-3E1E9A775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Boot</a:t>
            </a:r>
          </a:p>
          <a:p>
            <a:pPr lvl="1"/>
            <a:r>
              <a:rPr lang="en-US" altLang="ko-KR" dirty="0">
                <a:hlinkClick r:id="rId2"/>
              </a:rPr>
              <a:t>https://spring.io/projects/spring-boot</a:t>
            </a:r>
            <a:endParaRPr lang="en-US" altLang="ko-KR" dirty="0"/>
          </a:p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</a:p>
          <a:p>
            <a:pPr lvl="1"/>
            <a:r>
              <a:rPr lang="en-US" altLang="ko-KR" dirty="0">
                <a:hlinkClick r:id="rId3"/>
              </a:rPr>
              <a:t>https://spring.io/projects/spring-framework</a:t>
            </a:r>
            <a:endParaRPr lang="en-US" altLang="ko-KR" dirty="0"/>
          </a:p>
          <a:p>
            <a:r>
              <a:rPr lang="en-US" altLang="ko-KR" dirty="0"/>
              <a:t>Spring Data </a:t>
            </a:r>
          </a:p>
          <a:p>
            <a:pPr lvl="1"/>
            <a:r>
              <a:rPr lang="en-US" altLang="ko-KR" dirty="0">
                <a:hlinkClick r:id="rId4"/>
              </a:rPr>
              <a:t>https://spring.io/projects/spring-data</a:t>
            </a:r>
            <a:endParaRPr lang="en-US" altLang="ko-KR" dirty="0"/>
          </a:p>
          <a:p>
            <a:r>
              <a:rPr lang="en-US" altLang="ko-KR" dirty="0"/>
              <a:t>Spring Data JPA</a:t>
            </a:r>
          </a:p>
          <a:p>
            <a:pPr lvl="1"/>
            <a:r>
              <a:rPr lang="en-US" altLang="ko-KR" dirty="0">
                <a:hlinkClick r:id="rId5"/>
              </a:rPr>
              <a:t>https://spring.io/projects/spring-data-jpa</a:t>
            </a:r>
            <a:endParaRPr lang="en-US" altLang="ko-KR" dirty="0"/>
          </a:p>
          <a:p>
            <a:r>
              <a:rPr lang="en-US" altLang="ko-KR" dirty="0"/>
              <a:t>Spring Security</a:t>
            </a:r>
          </a:p>
          <a:p>
            <a:pPr lvl="1"/>
            <a:r>
              <a:rPr lang="en-US" altLang="ko-KR" dirty="0">
                <a:hlinkClick r:id="rId6"/>
              </a:rPr>
              <a:t>https://spring.io/projects/spring-security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506BE-B09C-490C-BAB9-1400CAD2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21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3FB95-4187-40C6-9373-59610B8A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Tools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57926E-E779-4995-B66D-9978C301D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VCS(Version Control System)</a:t>
            </a:r>
          </a:p>
          <a:p>
            <a:pPr lvl="1"/>
            <a:r>
              <a:rPr lang="en-US" altLang="ko-KR" dirty="0"/>
              <a:t>SVN (Centralized VCS)</a:t>
            </a:r>
          </a:p>
          <a:p>
            <a:pPr lvl="1"/>
            <a:r>
              <a:rPr lang="en-US" altLang="ko-KR" dirty="0"/>
              <a:t>Git - GitHub, Mercurial (Distributed VCS)</a:t>
            </a:r>
          </a:p>
          <a:p>
            <a:r>
              <a:rPr lang="en-US" altLang="ko-KR" dirty="0"/>
              <a:t>Build Tool</a:t>
            </a:r>
          </a:p>
          <a:p>
            <a:pPr lvl="1"/>
            <a:r>
              <a:rPr lang="en-US" altLang="ko-KR" dirty="0"/>
              <a:t>Maven</a:t>
            </a:r>
          </a:p>
          <a:p>
            <a:pPr lvl="1"/>
            <a:r>
              <a:rPr lang="en-US" altLang="ko-KR" dirty="0"/>
              <a:t>Gradle</a:t>
            </a:r>
          </a:p>
          <a:p>
            <a:r>
              <a:rPr lang="en-US" altLang="ko-KR" dirty="0"/>
              <a:t>CI/CD (Continuous Integration/Continuous Delivery)</a:t>
            </a:r>
          </a:p>
          <a:p>
            <a:pPr lvl="1"/>
            <a:r>
              <a:rPr lang="en-US" altLang="ko-KR" dirty="0"/>
              <a:t>Jenkins</a:t>
            </a:r>
          </a:p>
          <a:p>
            <a:pPr lvl="1"/>
            <a:r>
              <a:rPr lang="en-US" altLang="ko-KR" dirty="0" err="1"/>
              <a:t>CircleCI</a:t>
            </a:r>
            <a:r>
              <a:rPr lang="en-US" altLang="ko-KR" dirty="0"/>
              <a:t>, </a:t>
            </a:r>
            <a:r>
              <a:rPr lang="en-US" altLang="ko-KR" dirty="0" err="1"/>
              <a:t>TravisCI</a:t>
            </a:r>
            <a:r>
              <a:rPr lang="en-US" altLang="ko-KR" dirty="0"/>
              <a:t>, </a:t>
            </a:r>
            <a:r>
              <a:rPr lang="en-US" altLang="ko-KR" dirty="0" err="1"/>
              <a:t>Github</a:t>
            </a:r>
            <a:r>
              <a:rPr lang="en-US" altLang="ko-KR" dirty="0"/>
              <a:t> Actions</a:t>
            </a:r>
          </a:p>
          <a:p>
            <a:pPr lvl="2"/>
            <a:r>
              <a:rPr lang="ko-KR" altLang="en-US" dirty="0"/>
              <a:t>참고</a:t>
            </a:r>
            <a:r>
              <a:rPr lang="en-US" altLang="ko-KR" dirty="0"/>
              <a:t>) https://www.redhat.com/ko/topics/devops/what-is-ci-cd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56871-BFBB-4FD9-B0F7-9D74EED8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0C326B-2165-45BE-B4FE-1839F66E3B90}"/>
              </a:ext>
            </a:extLst>
          </p:cNvPr>
          <p:cNvSpPr/>
          <p:nvPr/>
        </p:nvSpPr>
        <p:spPr>
          <a:xfrm>
            <a:off x="1276684" y="1614964"/>
            <a:ext cx="1899139" cy="390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07C1EE-55B0-451F-9099-5B421490BB32}"/>
              </a:ext>
            </a:extLst>
          </p:cNvPr>
          <p:cNvSpPr/>
          <p:nvPr/>
        </p:nvSpPr>
        <p:spPr>
          <a:xfrm>
            <a:off x="1276684" y="2853156"/>
            <a:ext cx="1899139" cy="390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8486BF-FDDA-4DB2-A737-BD663D84984B}"/>
              </a:ext>
            </a:extLst>
          </p:cNvPr>
          <p:cNvSpPr/>
          <p:nvPr/>
        </p:nvSpPr>
        <p:spPr>
          <a:xfrm>
            <a:off x="1276684" y="3700579"/>
            <a:ext cx="1899139" cy="390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76653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33386</TotalTime>
  <Words>252</Words>
  <Application>Microsoft Office PowerPoint</Application>
  <PresentationFormat>와이드스크린</PresentationFormat>
  <Paragraphs>54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D2Coding</vt:lpstr>
      <vt:lpstr>맑은 고딕</vt:lpstr>
      <vt:lpstr>Arial</vt:lpstr>
      <vt:lpstr>Wingdings</vt:lpstr>
      <vt:lpstr>디자인 사용자 지정</vt:lpstr>
      <vt:lpstr>Java Framework</vt:lpstr>
      <vt:lpstr>강의 소개</vt:lpstr>
      <vt:lpstr>계속</vt:lpstr>
      <vt:lpstr>주차별 강의 내용</vt:lpstr>
      <vt:lpstr>Related Projects</vt:lpstr>
      <vt:lpstr>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ick00</cp:lastModifiedBy>
  <cp:revision>808</cp:revision>
  <dcterms:created xsi:type="dcterms:W3CDTF">2017-09-15T02:18:23Z</dcterms:created>
  <dcterms:modified xsi:type="dcterms:W3CDTF">2026-03-04T00:52:48Z</dcterms:modified>
</cp:coreProperties>
</file>